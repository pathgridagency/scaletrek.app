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615" y="1164431"/>
            <a:ext cx="4074795" cy="1928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ScaleTrek:</a:t>
            </a:r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Bridging the Startup Gap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5" y="3150394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the next generation of Moroccan and African enterprises through </a:t>
            </a:r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operational excellence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5" y="3499010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F8FAFC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348615" y="3847623"/>
            <a:ext cx="4074795" cy="1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Morocco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Pan-African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Scaling</a:t>
            </a:r>
            <a:endParaRPr lang="en-US" sz="788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40" y="1164431"/>
            <a:ext cx="2143125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350" y="1714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5924550" y="46291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Reality Check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5" y="2184560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venture capital landscape has undergone a structural shift. The period of hyper-growth at any cost has been replaced by a mandate for </a:t>
            </a:r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excellence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5" y="2561748"/>
            <a:ext cx="4074795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Easy Capital: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era of speculative, high-burn funding has concluded.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Disciplined Execution: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Investors now prioritize sustainable cash flow and clear paths to profitability.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'Valley of Death':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Despite the ambition of </a:t>
            </a:r>
            <a:pPr indent="0" marL="0">
              <a:lnSpc>
                <a:spcPct val="100000"/>
              </a:lnSpc>
              <a:buNone/>
            </a:pPr>
            <a:r>
              <a:rPr lang="en-US" sz="788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Morocco 2030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many startups lack the critical infrastructure to survive the transition from seed to scale.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40" y="2213135"/>
            <a:ext cx="214312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Problem: Building Blindly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5" y="2184560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often find themselves navigating the growth phase without a compass. High ambition is frequently met with a critical lack of </a:t>
            </a:r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operational visibility</a:t>
            </a:r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5" y="2561748"/>
            <a:ext cx="4074795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Gap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Founders struggle to scale due to a lack of actionable metrics.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Risk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Ambition outpaces the ability to track and optimize performance.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Efficiency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Inability to prove worth to investors leads to wasted runway.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40" y="2213135"/>
            <a:ext cx="2143125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714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Advantage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5924550" y="46291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Solution: </a:t>
            </a:r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973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ScaleTrek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5" y="2184560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software; we provide the essential data infrastructure to bridge the gap between ambition and execution.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5" y="2561748"/>
            <a:ext cx="4074795" cy="1120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Visibility: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Track health metrics in real-time to optimize internal processes.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Growth: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 the data-backed insights required to prove your startup's worth to investors.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Regionally Tailored: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specifically for the unique operational dynamics of the 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MENA/African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ecosystem.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Scale Ability, Mena/Africa is only the start.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40" y="2213135"/>
            <a:ext cx="214312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687231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Market Opportunity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2900" y="1415893"/>
            <a:ext cx="8458200" cy="1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our position within the MENA and African B2B SaaS ecosystem.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5" y="1867377"/>
            <a:ext cx="4074795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(Total Addressable Market)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$2.5B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MENA/African B2B SaaS &amp; Data Management landscape.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(Serviceable Addressable Market)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$45M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African high-growth tech startups &amp; SMEs.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(Serviceable Obtainable Market)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$300k–$500k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capture of 50-100 high-growth target clients.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Growth Loop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3" y="2213135"/>
            <a:ext cx="4074795" cy="267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8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Synergy: Pathgrid &amp; ScaleTrek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348613" y="2538176"/>
            <a:ext cx="4074795" cy="1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self-sustaining cycle of agency client conversion to recurring platform revenue.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348613" y="2755346"/>
            <a:ext cx="4074795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Pathgrid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Acts as the primary acquisition engine to drive initial interest.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ScaleTrek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Provides the robust backend infrastructure to ensure long-term retention.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38" y="2213135"/>
            <a:ext cx="2143125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350" y="1714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ScaleTrek Strategy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5924550" y="46291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Strategic Advantage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3" y="2213135"/>
            <a:ext cx="49606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Zero-to-One Efficiency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existing agency networks to minimize initial marketing spend.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Pipeline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agency client is a high-probability platform user.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Synergy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insights from ScaleTrek fuel better growth strategies for Pathgrid clients.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3563" y="2213135"/>
            <a:ext cx="214312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714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Context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5924550" y="4629150"/>
            <a:ext cx="270510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F8FAFC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8458200" cy="64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FA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Path Forward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348616" y="2184560"/>
            <a:ext cx="40747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cement our position as the market leader, we are prioritizing execution across three core pillars: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348616" y="2561748"/>
            <a:ext cx="407479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Financial Modeling: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Rigorous discipline from day one to ensure sustainable burn and optimal capital allocation.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Baseline: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Establishing a rock-solid, high-quality Monthly Recurring Revenue (MRR) engine as our foundation for growth.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  <a:p>
            <a:pPr>
              <a:lnSpc>
                <a:spcPct val="100000"/>
              </a:lnSpc>
            </a:pPr>
            <a:r>
              <a:rPr lang="en-US" sz="78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Play: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Positioning ScaleTrek as the </a:t>
            </a:r>
            <a:pPr indent="0" marL="0">
              <a:lnSpc>
                <a:spcPct val="100000"/>
              </a:lnSpc>
              <a:buNone/>
            </a:pPr>
            <a:r>
              <a:rPr lang="en-US" sz="788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indispensable</a:t>
            </a:r>
            <a:pPr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backend for the next wave of successful Moroccan businesses.</a:t>
            </a:r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F8FAFC"/>
                </a:solidFill>
              </a:rPr>
              <a:t>
</a:t>
            </a:r>
            <a:endParaRPr lang="en-US" sz="78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7741" y="2213135"/>
            <a:ext cx="2143125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Draft</dc:title>
  <dc:subject>PptxGenJS Presentation</dc:subject>
  <dc:creator>PptxGenJS</dc:creator>
  <cp:lastModifiedBy>PptxGenJS</cp:lastModifiedBy>
  <cp:revision>1</cp:revision>
  <dcterms:created xsi:type="dcterms:W3CDTF">2026-05-20T14:56:22Z</dcterms:created>
  <dcterms:modified xsi:type="dcterms:W3CDTF">2026-05-20T14:56:22Z</dcterms:modified>
</cp:coreProperties>
</file>
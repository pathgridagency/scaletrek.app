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ScaleTrek presentation. Badr Aziz will present the sovereign discovery matrix offering regulatory-free discovery with dual-stream architecture for emerging markets. This scalable investment infrastructure transforms traditional approaches.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recognized that standard investment approaches don't work here. ScaleTrek solves this by linking institutional capital to verified, revenue-generating businesses in MENA. We start in the Rabat-Casablanca corridor, prioritizing solid operations over hype.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unique model allows us to bypass strict crowdfunding regulations like Loi n° 15-18. We function purely as a discovery bridge and digital switchboard. We never touch investment capital or manage syndicates. Instead, all financial transactions occur offline through traditional notaries. This approach guarantees zero regulatory friction and compliance.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features the Blueprint and The Steel architecture, utilizing two distinct streams. The Dreamer Stream supports software architects, while the Reality Check Stream serves physical businesses. We prioritize transparency by requiring timestamped 4K videos and inventory logs rather than pitch decks, ensuring visibility for both visionary tech and operational reality.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system introduces the Momentum Engine, which prioritizes execution over hype. We implemented visibility decay for inactive founders to maintain integrity. Additionally, the platform provides legal-verified dossiers and uses asymmetric cryptography to ensure secure negotiations.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asymmetric tech stack optimizes for both speed and cost. Next.js on Vercel delivers instant edge loading globally. Supabase provides a secure, real-time database backbone. Most importantly, Cloudflare R2 enables zero-egress storage for our 4K video content, keeping infrastructure costs negligible even at high volumes.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using Morocco as a strategic test market to validate our unit economics before expanding into the Global South. Our architecture natively supports English, French, Spanish, and Arabic, including automatic right-to-left layout switching. This means we are ready for immediate deployment across Francophone Africa, the Middle East, and Latin America.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4"/>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bbbffaf-bfac-4e3b-acd5-1f9cc0fda875.png"/>
          <p:cNvPicPr>
            <a:picLocks noChangeAspect="1"/>
          </p:cNvPicPr>
          <p:nvPr/>
        </p:nvPicPr>
        <p:blipFill>
          <a:blip r:embed="rId3"/>
          <a:stretch>
            <a:fillRect/>
          </a:stretch>
        </p:blipFill>
        <p:spPr>
          <a:xfrm>
            <a:off x="7802909" y="0"/>
            <a:ext cx="4389090" cy="4953000"/>
          </a:xfrm>
          <a:prstGeom prst="rect">
            <a:avLst/>
          </a:prstGeom>
        </p:spPr>
      </p:pic>
      <p:sp>
        <p:nvSpPr>
          <p:cNvPr id="4" name="Rounded Rectangle 3"/>
          <p:cNvSpPr/>
          <p:nvPr/>
        </p:nvSpPr>
        <p:spPr>
          <a:xfrm rot="2700000">
            <a:off x="7421156" y="281127"/>
            <a:ext cx="161644" cy="161644"/>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ectangle 4"/>
          <p:cNvSpPr/>
          <p:nvPr/>
        </p:nvSpPr>
        <p:spPr>
          <a:xfrm rot="2700000">
            <a:off x="7421156" y="509727"/>
            <a:ext cx="161644" cy="161644"/>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rot="2700000">
            <a:off x="7421156" y="738327"/>
            <a:ext cx="161644" cy="161644"/>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457200" y="723900"/>
            <a:ext cx="6560046" cy="127992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spc="-120" i="0" sz="4800" b="0">
                <a:solidFill>
                  <a:srgbClr val="111827"/>
                </a:solidFill>
                <a:latin typeface="Albert Sans"/>
              </a:defRPr>
            </a:pPr>
            <a:r>
              <a:rPr i="0" sz="4800" b="0">
                <a:solidFill>
                  <a:srgbClr val="111827"/>
                </a:solidFill>
                <a:latin typeface="Albert Sans"/>
              </a:rPr>
              <a:t>ScaleTrek: Sovereign Discovery Matrix</a:t>
            </a:r>
          </a:p>
        </p:txBody>
      </p:sp>
      <p:sp>
        <p:nvSpPr>
          <p:cNvPr id="8" name="TextBox 7"/>
          <p:cNvSpPr txBox="1"/>
          <p:nvPr/>
        </p:nvSpPr>
        <p:spPr>
          <a:xfrm>
            <a:off x="457200" y="2194321"/>
            <a:ext cx="5924550" cy="4875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200" b="0">
                <a:solidFill>
                  <a:srgbClr val="6B7280"/>
                </a:solidFill>
                <a:latin typeface="Albert Sans"/>
              </a:defRPr>
            </a:pPr>
            <a:r>
              <a:rPr i="0" sz="1200" b="0">
                <a:solidFill>
                  <a:srgbClr val="6B7280"/>
                </a:solidFill>
                <a:latin typeface="Albert Sans"/>
              </a:rPr>
              <a:t>Regulatory-free discovery, dual-stream architecture, and scalable investment infrastructure.</a:t>
            </a:r>
          </a:p>
        </p:txBody>
      </p:sp>
      <p:sp>
        <p:nvSpPr>
          <p:cNvPr id="9" name="Rounded Rectangle 8"/>
          <p:cNvSpPr/>
          <p:nvPr/>
        </p:nvSpPr>
        <p:spPr>
          <a:xfrm>
            <a:off x="457200" y="2910482"/>
            <a:ext cx="2088207" cy="476250"/>
          </a:xfrm>
          <a:prstGeom prst="roundRect">
            <a:avLst>
              <a:gd name="adj" fmla="val 4000"/>
            </a:avLst>
          </a:prstGeom>
          <a:solidFill>
            <a:srgbClr val="BFF4FF"/>
          </a:solidFill>
          <a:ln w="9525">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10" name="Rectangle 9"/>
          <p:cNvSpPr/>
          <p:nvPr/>
        </p:nvSpPr>
        <p:spPr>
          <a:xfrm>
            <a:off x="619125" y="3034307"/>
            <a:ext cx="76200" cy="22860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847725" y="3034307"/>
            <a:ext cx="689669"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111827"/>
                </a:solidFill>
                <a:latin typeface="Albert Sans"/>
              </a:defRPr>
            </a:pPr>
            <a:r>
              <a:rPr i="0" sz="1200" b="0">
                <a:solidFill>
                  <a:srgbClr val="111827"/>
                </a:solidFill>
                <a:latin typeface="Albert Sans"/>
              </a:rPr>
              <a:t>Badr Aziz</a:t>
            </a:r>
          </a:p>
        </p:txBody>
      </p:sp>
      <p:sp>
        <p:nvSpPr>
          <p:cNvPr id="12" name="TextBox 11"/>
          <p:cNvSpPr txBox="1"/>
          <p:nvPr/>
        </p:nvSpPr>
        <p:spPr>
          <a:xfrm>
            <a:off x="1632644" y="3053357"/>
            <a:ext cx="769887"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2026-05-19</a:t>
            </a:r>
          </a:p>
        </p:txBody>
      </p:sp>
      <p:sp>
        <p:nvSpPr>
          <p:cNvPr id="13" name="TextBox 12"/>
          <p:cNvSpPr txBox="1"/>
          <p:nvPr/>
        </p:nvSpPr>
        <p:spPr>
          <a:xfrm>
            <a:off x="457200" y="6353175"/>
            <a:ext cx="129867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https://scaletrek.com</a:t>
            </a:r>
          </a:p>
        </p:txBody>
      </p:sp>
      <p:sp>
        <p:nvSpPr>
          <p:cNvPr id="14" name="Rectangle 13"/>
          <p:cNvSpPr/>
          <p:nvPr/>
        </p:nvSpPr>
        <p:spPr>
          <a:xfrm>
            <a:off x="1965424" y="6443662"/>
            <a:ext cx="9769375"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ectangle 14"/>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4"/>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495300"/>
            <a:ext cx="5962650" cy="56004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Core Thesis</a:t>
            </a:r>
          </a:p>
        </p:txBody>
      </p:sp>
      <p:sp>
        <p:nvSpPr>
          <p:cNvPr id="4" name="TextBox 3"/>
          <p:cNvSpPr txBox="1"/>
          <p:nvPr/>
        </p:nvSpPr>
        <p:spPr>
          <a:xfrm>
            <a:off x="6781800" y="495300"/>
            <a:ext cx="49720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111827"/>
                </a:solidFill>
                <a:latin typeface="Albert Sans"/>
              </a:defRPr>
            </a:pPr>
            <a:r>
              <a:rPr i="0" sz="1200" b="0">
                <a:solidFill>
                  <a:srgbClr val="111827"/>
                </a:solidFill>
                <a:latin typeface="Albert Sans"/>
              </a:rPr>
              <a:t>Our Approach</a:t>
            </a:r>
          </a:p>
        </p:txBody>
      </p:sp>
      <p:sp>
        <p:nvSpPr>
          <p:cNvPr id="5" name="TextBox 4"/>
          <p:cNvSpPr txBox="1"/>
          <p:nvPr/>
        </p:nvSpPr>
        <p:spPr>
          <a:xfrm>
            <a:off x="6781800" y="800100"/>
            <a:ext cx="4972050" cy="42654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We bridge the gap between institutional capital and proven businesses in MENA by focusing on </a:t>
            </a:r>
            <a:r>
              <a:rPr i="0" sz="1050" b="1">
                <a:solidFill>
                  <a:srgbClr val="6B7280"/>
                </a:solidFill>
                <a:latin typeface="Albert Sans"/>
              </a:rPr>
              <a:t>operational reality</a:t>
            </a:r>
            <a:r>
              <a:rPr i="0" sz="1050" b="0">
                <a:solidFill>
                  <a:srgbClr val="6B7280"/>
                </a:solidFill>
                <a:latin typeface="Albert Sans"/>
              </a:rPr>
              <a:t> rather than speculative tech trends.</a:t>
            </a:r>
          </a:p>
        </p:txBody>
      </p:sp>
      <p:sp>
        <p:nvSpPr>
          <p:cNvPr id="6" name="Rounded Rectangle 5"/>
          <p:cNvSpPr/>
          <p:nvPr/>
        </p:nvSpPr>
        <p:spPr>
          <a:xfrm>
            <a:off x="116205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7589b00a-58f6-425d-bbfd-78fc5172c537.png"/>
          <p:cNvPicPr>
            <a:picLocks noChangeAspect="1"/>
          </p:cNvPicPr>
          <p:nvPr/>
        </p:nvPicPr>
        <p:blipFill>
          <a:blip r:embed="rId3"/>
          <a:stretch>
            <a:fillRect/>
          </a:stretch>
        </p:blipFill>
        <p:spPr>
          <a:xfrm>
            <a:off x="1657350" y="2179141"/>
            <a:ext cx="533400" cy="533400"/>
          </a:xfrm>
          <a:prstGeom prst="rect">
            <a:avLst/>
          </a:prstGeom>
        </p:spPr>
      </p:pic>
      <p:sp>
        <p:nvSpPr>
          <p:cNvPr id="8" name="TextBox 7"/>
          <p:cNvSpPr txBox="1"/>
          <p:nvPr/>
        </p:nvSpPr>
        <p:spPr>
          <a:xfrm>
            <a:off x="1332160" y="3398341"/>
            <a:ext cx="1202680"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SV Model Failure</a:t>
            </a:r>
          </a:p>
        </p:txBody>
      </p:sp>
      <p:sp>
        <p:nvSpPr>
          <p:cNvPr id="9" name="TextBox 8"/>
          <p:cNvSpPr txBox="1"/>
          <p:nvPr/>
        </p:nvSpPr>
        <p:spPr>
          <a:xfrm>
            <a:off x="685800" y="3703141"/>
            <a:ext cx="2495550" cy="59427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Traditional Silicon Valley investment models struggle in emerging markets due to </a:t>
            </a:r>
            <a:r>
              <a:rPr i="0" sz="975" b="1">
                <a:solidFill>
                  <a:srgbClr val="6B7280"/>
                </a:solidFill>
                <a:latin typeface="Albert Sans"/>
              </a:rPr>
              <a:t>complex syndicates</a:t>
            </a:r>
            <a:r>
              <a:rPr i="0" sz="975" b="0">
                <a:solidFill>
                  <a:srgbClr val="6B7280"/>
                </a:solidFill>
                <a:latin typeface="Albert Sans"/>
              </a:rPr>
              <a:t>.</a:t>
            </a:r>
          </a:p>
        </p:txBody>
      </p:sp>
      <p:sp>
        <p:nvSpPr>
          <p:cNvPr id="10" name="Rounded Rectangle 9"/>
          <p:cNvSpPr/>
          <p:nvPr/>
        </p:nvSpPr>
        <p:spPr>
          <a:xfrm>
            <a:off x="394335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2f610ae7-c9c2-40d2-8450-0f0c7d39369e.png"/>
          <p:cNvPicPr>
            <a:picLocks noChangeAspect="1"/>
          </p:cNvPicPr>
          <p:nvPr/>
        </p:nvPicPr>
        <p:blipFill>
          <a:blip r:embed="rId4"/>
          <a:stretch>
            <a:fillRect/>
          </a:stretch>
        </p:blipFill>
        <p:spPr>
          <a:xfrm>
            <a:off x="4438650" y="2179141"/>
            <a:ext cx="533400" cy="533400"/>
          </a:xfrm>
          <a:prstGeom prst="rect">
            <a:avLst/>
          </a:prstGeom>
        </p:spPr>
      </p:pic>
      <p:sp>
        <p:nvSpPr>
          <p:cNvPr id="12" name="TextBox 11"/>
          <p:cNvSpPr txBox="1"/>
          <p:nvPr/>
        </p:nvSpPr>
        <p:spPr>
          <a:xfrm>
            <a:off x="4024758" y="3398341"/>
            <a:ext cx="1380232"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Capital Connection</a:t>
            </a:r>
          </a:p>
        </p:txBody>
      </p:sp>
      <p:sp>
        <p:nvSpPr>
          <p:cNvPr id="13" name="TextBox 12"/>
          <p:cNvSpPr txBox="1"/>
          <p:nvPr/>
        </p:nvSpPr>
        <p:spPr>
          <a:xfrm>
            <a:off x="3467100" y="3703141"/>
            <a:ext cx="2495550" cy="59427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ScaleTrek connects institutional investors directly with </a:t>
            </a:r>
            <a:r>
              <a:rPr i="0" sz="975" b="1">
                <a:solidFill>
                  <a:srgbClr val="6B7280"/>
                </a:solidFill>
                <a:latin typeface="Albert Sans"/>
              </a:rPr>
              <a:t>verified, cash-flowing businesses</a:t>
            </a:r>
            <a:r>
              <a:rPr i="0" sz="975" b="0">
                <a:solidFill>
                  <a:srgbClr val="6B7280"/>
                </a:solidFill>
                <a:latin typeface="Albert Sans"/>
              </a:rPr>
              <a:t> in MENA.</a:t>
            </a:r>
          </a:p>
        </p:txBody>
      </p:sp>
      <p:sp>
        <p:nvSpPr>
          <p:cNvPr id="14" name="Rounded Rectangle 13"/>
          <p:cNvSpPr/>
          <p:nvPr/>
        </p:nvSpPr>
        <p:spPr>
          <a:xfrm>
            <a:off x="672465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d45fb1ed-6783-42b7-91c7-14adab93b014.png"/>
          <p:cNvPicPr>
            <a:picLocks noChangeAspect="1"/>
          </p:cNvPicPr>
          <p:nvPr/>
        </p:nvPicPr>
        <p:blipFill>
          <a:blip r:embed="rId5"/>
          <a:stretch>
            <a:fillRect/>
          </a:stretch>
        </p:blipFill>
        <p:spPr>
          <a:xfrm>
            <a:off x="7219950" y="2179141"/>
            <a:ext cx="533400" cy="533400"/>
          </a:xfrm>
          <a:prstGeom prst="rect">
            <a:avLst/>
          </a:prstGeom>
        </p:spPr>
      </p:pic>
      <p:sp>
        <p:nvSpPr>
          <p:cNvPr id="16" name="TextBox 15"/>
          <p:cNvSpPr txBox="1"/>
          <p:nvPr/>
        </p:nvSpPr>
        <p:spPr>
          <a:xfrm>
            <a:off x="6847730" y="3398341"/>
            <a:ext cx="1296739"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Operational Focus</a:t>
            </a:r>
          </a:p>
        </p:txBody>
      </p:sp>
      <p:sp>
        <p:nvSpPr>
          <p:cNvPr id="17" name="TextBox 16"/>
          <p:cNvSpPr txBox="1"/>
          <p:nvPr/>
        </p:nvSpPr>
        <p:spPr>
          <a:xfrm>
            <a:off x="6248400" y="3703141"/>
            <a:ext cx="2495550" cy="59427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We prioritize </a:t>
            </a:r>
            <a:r>
              <a:rPr i="0" sz="975" b="1">
                <a:solidFill>
                  <a:srgbClr val="6B7280"/>
                </a:solidFill>
                <a:latin typeface="Albert Sans"/>
              </a:rPr>
              <a:t>operational reality</a:t>
            </a:r>
            <a:r>
              <a:rPr i="0" sz="975" b="0">
                <a:solidFill>
                  <a:srgbClr val="6B7280"/>
                </a:solidFill>
                <a:latin typeface="Albert Sans"/>
              </a:rPr>
              <a:t> over tech experimentation to ensure sustainable business growth.</a:t>
            </a:r>
          </a:p>
        </p:txBody>
      </p:sp>
      <p:sp>
        <p:nvSpPr>
          <p:cNvPr id="18" name="Rounded Rectangle 17"/>
          <p:cNvSpPr/>
          <p:nvPr/>
        </p:nvSpPr>
        <p:spPr>
          <a:xfrm>
            <a:off x="950595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9" name="Picture 18" descr="1d87c939-ec96-4cd8-a2f7-593ac1c58239.png"/>
          <p:cNvPicPr>
            <a:picLocks noChangeAspect="1"/>
          </p:cNvPicPr>
          <p:nvPr/>
        </p:nvPicPr>
        <p:blipFill>
          <a:blip r:embed="rId6"/>
          <a:stretch>
            <a:fillRect/>
          </a:stretch>
        </p:blipFill>
        <p:spPr>
          <a:xfrm>
            <a:off x="10001250" y="2179141"/>
            <a:ext cx="533400" cy="533400"/>
          </a:xfrm>
          <a:prstGeom prst="rect">
            <a:avLst/>
          </a:prstGeom>
        </p:spPr>
      </p:pic>
      <p:sp>
        <p:nvSpPr>
          <p:cNvPr id="20" name="TextBox 19"/>
          <p:cNvSpPr txBox="1"/>
          <p:nvPr/>
        </p:nvSpPr>
        <p:spPr>
          <a:xfrm>
            <a:off x="9804201" y="3398341"/>
            <a:ext cx="946546"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Initial Launch</a:t>
            </a:r>
          </a:p>
        </p:txBody>
      </p:sp>
      <p:sp>
        <p:nvSpPr>
          <p:cNvPr id="21" name="TextBox 20"/>
          <p:cNvSpPr txBox="1"/>
          <p:nvPr/>
        </p:nvSpPr>
        <p:spPr>
          <a:xfrm>
            <a:off x="9029700" y="3703141"/>
            <a:ext cx="2495550" cy="59427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Launching initially in the </a:t>
            </a:r>
            <a:r>
              <a:rPr i="0" sz="975" b="1">
                <a:solidFill>
                  <a:srgbClr val="6B7280"/>
                </a:solidFill>
                <a:latin typeface="Albert Sans"/>
              </a:rPr>
              <a:t>Rabat-Casablanca economic corridor</a:t>
            </a:r>
            <a:r>
              <a:rPr i="0" sz="975" b="0">
                <a:solidFill>
                  <a:srgbClr val="6B7280"/>
                </a:solidFill>
                <a:latin typeface="Albert Sans"/>
              </a:rPr>
              <a:t> to maximize early impact.</a:t>
            </a:r>
          </a:p>
        </p:txBody>
      </p:sp>
      <p:sp>
        <p:nvSpPr>
          <p:cNvPr id="22" name="TextBox 21"/>
          <p:cNvSpPr txBox="1"/>
          <p:nvPr/>
        </p:nvSpPr>
        <p:spPr>
          <a:xfrm>
            <a:off x="457200" y="6353175"/>
            <a:ext cx="86751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scaletrek.com</a:t>
            </a:r>
          </a:p>
        </p:txBody>
      </p:sp>
      <p:sp>
        <p:nvSpPr>
          <p:cNvPr id="23" name="Rectangle 22"/>
          <p:cNvSpPr/>
          <p:nvPr/>
        </p:nvSpPr>
        <p:spPr>
          <a:xfrm>
            <a:off x="1534269" y="6443662"/>
            <a:ext cx="10200530"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8"/>
            <a:ext cx="161644" cy="161643"/>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bcf7849e-2825-4941-94fa-6f02bf1fa2a4.png"/>
          <p:cNvPicPr>
            <a:picLocks noChangeAspect="1"/>
          </p:cNvPicPr>
          <p:nvPr/>
        </p:nvPicPr>
        <p:blipFill>
          <a:blip r:embed="rId3"/>
          <a:stretch>
            <a:fillRect/>
          </a:stretch>
        </p:blipFill>
        <p:spPr>
          <a:xfrm>
            <a:off x="1809750" y="3048000"/>
            <a:ext cx="8572500" cy="2476500"/>
          </a:xfrm>
          <a:prstGeom prst="rect">
            <a:avLst/>
          </a:prstGeom>
        </p:spPr>
      </p:pic>
      <p:sp>
        <p:nvSpPr>
          <p:cNvPr id="4" name="TextBox 3"/>
          <p:cNvSpPr txBox="1"/>
          <p:nvPr/>
        </p:nvSpPr>
        <p:spPr>
          <a:xfrm>
            <a:off x="457200" y="571500"/>
            <a:ext cx="5432226"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Pure Bridge Model</a:t>
            </a:r>
          </a:p>
        </p:txBody>
      </p:sp>
      <p:sp>
        <p:nvSpPr>
          <p:cNvPr id="5" name="TextBox 4"/>
          <p:cNvSpPr txBox="1"/>
          <p:nvPr/>
        </p:nvSpPr>
        <p:spPr>
          <a:xfrm>
            <a:off x="457200" y="2072580"/>
            <a:ext cx="49720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ScaleTrek bypasses strict crowdfunding regulations by acting as a </a:t>
            </a:r>
            <a:r>
              <a:rPr i="0" sz="1200" b="1">
                <a:solidFill>
                  <a:srgbClr val="6B7280"/>
                </a:solidFill>
                <a:latin typeface="Albert Sans"/>
              </a:rPr>
              <a:t>pure discovery bridge</a:t>
            </a:r>
            <a:r>
              <a:rPr i="0" sz="1200" b="0">
                <a:solidFill>
                  <a:srgbClr val="6B7280"/>
                </a:solidFill>
                <a:latin typeface="Albert Sans"/>
              </a:rPr>
              <a:t>, never touching capital directly.</a:t>
            </a:r>
          </a:p>
        </p:txBody>
      </p:sp>
      <p:sp>
        <p:nvSpPr>
          <p:cNvPr id="6" name="TextBox 5"/>
          <p:cNvSpPr txBox="1"/>
          <p:nvPr/>
        </p:nvSpPr>
        <p:spPr>
          <a:xfrm>
            <a:off x="6251376" y="57150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Regulatory Bypass Strategy</a:t>
            </a:r>
          </a:p>
        </p:txBody>
      </p:sp>
      <p:sp>
        <p:nvSpPr>
          <p:cNvPr id="7" name="TextBox 6"/>
          <p:cNvSpPr txBox="1"/>
          <p:nvPr/>
        </p:nvSpPr>
        <p:spPr>
          <a:xfrm>
            <a:off x="6251376" y="102870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We operate as a Multi-Sided Platform discovery bridge, bypassing strict crowdfunding laws like Loi n° 15-18.</a:t>
            </a:r>
          </a:p>
        </p:txBody>
      </p:sp>
      <p:sp>
        <p:nvSpPr>
          <p:cNvPr id="8" name="TextBox 7"/>
          <p:cNvSpPr txBox="1"/>
          <p:nvPr/>
        </p:nvSpPr>
        <p:spPr>
          <a:xfrm>
            <a:off x="6251376" y="180588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Secure Digital Switchboard</a:t>
            </a:r>
          </a:p>
        </p:txBody>
      </p:sp>
      <p:sp>
        <p:nvSpPr>
          <p:cNvPr id="9" name="TextBox 8"/>
          <p:cNvSpPr txBox="1"/>
          <p:nvPr/>
        </p:nvSpPr>
        <p:spPr>
          <a:xfrm>
            <a:off x="6251376" y="226308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We act as a connection point without managing investment capital or legal syndicates, ensuring clear separation.</a:t>
            </a:r>
          </a:p>
        </p:txBody>
      </p:sp>
      <p:sp>
        <p:nvSpPr>
          <p:cNvPr id="10" name="TextBox 9"/>
          <p:cNvSpPr txBox="1"/>
          <p:nvPr/>
        </p:nvSpPr>
        <p:spPr>
          <a:xfrm>
            <a:off x="6251376" y="304026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Zero Friction Transactions</a:t>
            </a:r>
          </a:p>
        </p:txBody>
      </p:sp>
      <p:sp>
        <p:nvSpPr>
          <p:cNvPr id="11" name="TextBox 10"/>
          <p:cNvSpPr txBox="1"/>
          <p:nvPr/>
        </p:nvSpPr>
        <p:spPr>
          <a:xfrm>
            <a:off x="6251376" y="349746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All financial transfers happen offline via traditional notaries, completely eliminating regulatory oversight burdens.</a:t>
            </a:r>
          </a:p>
        </p:txBody>
      </p:sp>
      <p:sp>
        <p:nvSpPr>
          <p:cNvPr id="12" name="TextBox 11"/>
          <p:cNvSpPr txBox="1"/>
          <p:nvPr/>
        </p:nvSpPr>
        <p:spPr>
          <a:xfrm>
            <a:off x="457200" y="6353175"/>
            <a:ext cx="86751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scaletrek.com</a:t>
            </a:r>
          </a:p>
        </p:txBody>
      </p:sp>
      <p:sp>
        <p:nvSpPr>
          <p:cNvPr id="13" name="Rectangle 12"/>
          <p:cNvSpPr/>
          <p:nvPr/>
        </p:nvSpPr>
        <p:spPr>
          <a:xfrm>
            <a:off x="1534269" y="6443662"/>
            <a:ext cx="10200530"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The Architecture: Blueprint and The Steel</a:t>
            </a:r>
          </a:p>
        </p:txBody>
      </p:sp>
      <p:sp>
        <p:nvSpPr>
          <p:cNvPr id="4" name="TextBox 3"/>
          <p:cNvSpPr txBox="1"/>
          <p:nvPr/>
        </p:nvSpPr>
        <p:spPr>
          <a:xfrm>
            <a:off x="457200" y="1150590"/>
            <a:ext cx="7258050"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6B7280"/>
                </a:solidFill>
                <a:latin typeface="Albert Sans"/>
              </a:defRPr>
            </a:pPr>
            <a:r>
              <a:rPr i="0" sz="1200" b="0">
                <a:solidFill>
                  <a:srgbClr val="6B7280"/>
                </a:solidFill>
                <a:latin typeface="Albert Sans"/>
              </a:rPr>
              <a:t>A dual-stream architecture connecting visionary software architects with physical economy founders for maximum visibility.</a:t>
            </a:r>
          </a:p>
        </p:txBody>
      </p:sp>
      <p:sp>
        <p:nvSpPr>
          <p:cNvPr id="5" name="Rectangle 4"/>
          <p:cNvSpPr/>
          <p:nvPr/>
        </p:nvSpPr>
        <p:spPr>
          <a:xfrm>
            <a:off x="0" y="4572000"/>
            <a:ext cx="12192000" cy="1524000"/>
          </a:xfrm>
          <a:prstGeom prst="rect">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2152650" y="1912590"/>
            <a:ext cx="2476500" cy="1965870"/>
          </a:xfrm>
          <a:prstGeom prst="roundRect">
            <a:avLst>
              <a:gd name="adj" fmla="val 10659"/>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238125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8" name="Picture 7" descr="c898774d-2fb2-4459-b699-ef8cbac1c676.png"/>
          <p:cNvPicPr>
            <a:picLocks noChangeAspect="1"/>
          </p:cNvPicPr>
          <p:nvPr/>
        </p:nvPicPr>
        <p:blipFill>
          <a:blip r:embed="rId3"/>
          <a:stretch>
            <a:fillRect/>
          </a:stretch>
        </p:blipFill>
        <p:spPr>
          <a:xfrm>
            <a:off x="2457450" y="2184052"/>
            <a:ext cx="228600" cy="228600"/>
          </a:xfrm>
          <a:prstGeom prst="rect">
            <a:avLst/>
          </a:prstGeom>
        </p:spPr>
      </p:pic>
      <p:sp>
        <p:nvSpPr>
          <p:cNvPr id="9" name="TextBox 8"/>
          <p:cNvSpPr txBox="1"/>
          <p:nvPr/>
        </p:nvSpPr>
        <p:spPr>
          <a:xfrm>
            <a:off x="238125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Dreamer Stream</a:t>
            </a:r>
          </a:p>
        </p:txBody>
      </p:sp>
      <p:sp>
        <p:nvSpPr>
          <p:cNvPr id="10" name="TextBox 9"/>
          <p:cNvSpPr txBox="1"/>
          <p:nvPr/>
        </p:nvSpPr>
        <p:spPr>
          <a:xfrm>
            <a:off x="2381250" y="3007965"/>
            <a:ext cx="2038350"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Tailored for </a:t>
            </a:r>
            <a:r>
              <a:rPr i="0" sz="1050" b="1">
                <a:solidFill>
                  <a:srgbClr val="6B7280"/>
                </a:solidFill>
                <a:latin typeface="Albert Sans"/>
              </a:rPr>
              <a:t>software architects</a:t>
            </a:r>
            <a:r>
              <a:rPr i="0" sz="1050" b="0">
                <a:solidFill>
                  <a:srgbClr val="6B7280"/>
                </a:solidFill>
                <a:latin typeface="Albert Sans"/>
              </a:rPr>
              <a:t> to showcase visionary tech projects.</a:t>
            </a:r>
          </a:p>
        </p:txBody>
      </p:sp>
      <p:sp>
        <p:nvSpPr>
          <p:cNvPr id="11" name="Rounded Rectangle 10"/>
          <p:cNvSpPr/>
          <p:nvPr/>
        </p:nvSpPr>
        <p:spPr>
          <a:xfrm>
            <a:off x="4857750" y="1912590"/>
            <a:ext cx="2476500" cy="1965870"/>
          </a:xfrm>
          <a:prstGeom prst="roundRect">
            <a:avLst>
              <a:gd name="adj" fmla="val 10659"/>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a:off x="508635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3" name="Picture 12" descr="c1ba55d9-fdf4-4e43-b7fe-629e4b5448d5.png"/>
          <p:cNvPicPr>
            <a:picLocks noChangeAspect="1"/>
          </p:cNvPicPr>
          <p:nvPr/>
        </p:nvPicPr>
        <p:blipFill>
          <a:blip r:embed="rId4"/>
          <a:stretch>
            <a:fillRect/>
          </a:stretch>
        </p:blipFill>
        <p:spPr>
          <a:xfrm>
            <a:off x="5162550" y="2184052"/>
            <a:ext cx="228600" cy="228600"/>
          </a:xfrm>
          <a:prstGeom prst="rect">
            <a:avLst/>
          </a:prstGeom>
        </p:spPr>
      </p:pic>
      <p:sp>
        <p:nvSpPr>
          <p:cNvPr id="14" name="TextBox 13"/>
          <p:cNvSpPr txBox="1"/>
          <p:nvPr/>
        </p:nvSpPr>
        <p:spPr>
          <a:xfrm>
            <a:off x="508635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Reality Check Stream</a:t>
            </a:r>
          </a:p>
        </p:txBody>
      </p:sp>
      <p:sp>
        <p:nvSpPr>
          <p:cNvPr id="15" name="TextBox 14"/>
          <p:cNvSpPr txBox="1"/>
          <p:nvPr/>
        </p:nvSpPr>
        <p:spPr>
          <a:xfrm>
            <a:off x="5086350" y="3007965"/>
            <a:ext cx="2038350"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Designed for </a:t>
            </a:r>
            <a:r>
              <a:rPr i="0" sz="1050" b="1">
                <a:solidFill>
                  <a:srgbClr val="6B7280"/>
                </a:solidFill>
                <a:latin typeface="Albert Sans"/>
              </a:rPr>
              <a:t>physical businesses</a:t>
            </a:r>
            <a:r>
              <a:rPr i="0" sz="1050" b="0">
                <a:solidFill>
                  <a:srgbClr val="6B7280"/>
                </a:solidFill>
                <a:latin typeface="Albert Sans"/>
              </a:rPr>
              <a:t> to demonstrate grounded operations.</a:t>
            </a:r>
          </a:p>
        </p:txBody>
      </p:sp>
      <p:sp>
        <p:nvSpPr>
          <p:cNvPr id="16" name="Rounded Rectangle 15"/>
          <p:cNvSpPr/>
          <p:nvPr/>
        </p:nvSpPr>
        <p:spPr>
          <a:xfrm>
            <a:off x="7562850" y="1912590"/>
            <a:ext cx="2476500" cy="1965870"/>
          </a:xfrm>
          <a:prstGeom prst="roundRect">
            <a:avLst>
              <a:gd name="adj" fmla="val 10659"/>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779145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8" name="Picture 17" descr="a1a7370f-77d7-4cdb-a5b9-d96a69c2ab77.png"/>
          <p:cNvPicPr>
            <a:picLocks noChangeAspect="1"/>
          </p:cNvPicPr>
          <p:nvPr/>
        </p:nvPicPr>
        <p:blipFill>
          <a:blip r:embed="rId5"/>
          <a:stretch>
            <a:fillRect/>
          </a:stretch>
        </p:blipFill>
        <p:spPr>
          <a:xfrm>
            <a:off x="7867650" y="2184052"/>
            <a:ext cx="228600" cy="228600"/>
          </a:xfrm>
          <a:prstGeom prst="rect">
            <a:avLst/>
          </a:prstGeom>
        </p:spPr>
      </p:pic>
      <p:sp>
        <p:nvSpPr>
          <p:cNvPr id="19" name="TextBox 18"/>
          <p:cNvSpPr txBox="1"/>
          <p:nvPr/>
        </p:nvSpPr>
        <p:spPr>
          <a:xfrm>
            <a:off x="779145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Video-Based Proof</a:t>
            </a:r>
          </a:p>
        </p:txBody>
      </p:sp>
      <p:sp>
        <p:nvSpPr>
          <p:cNvPr id="20" name="TextBox 19"/>
          <p:cNvSpPr txBox="1"/>
          <p:nvPr/>
        </p:nvSpPr>
        <p:spPr>
          <a:xfrm>
            <a:off x="7791450" y="3007965"/>
            <a:ext cx="2038350"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Founders upload </a:t>
            </a:r>
            <a:r>
              <a:rPr i="0" sz="1050" b="1">
                <a:solidFill>
                  <a:srgbClr val="6B7280"/>
                </a:solidFill>
                <a:latin typeface="Albert Sans"/>
              </a:rPr>
              <a:t>4K videos</a:t>
            </a:r>
            <a:r>
              <a:rPr i="0" sz="1050" b="0">
                <a:solidFill>
                  <a:srgbClr val="6B7280"/>
                </a:solidFill>
                <a:latin typeface="Albert Sans"/>
              </a:rPr>
              <a:t> and inventory logs instead of pitch decks.</a:t>
            </a:r>
          </a:p>
        </p:txBody>
      </p:sp>
      <p:sp>
        <p:nvSpPr>
          <p:cNvPr id="21" name="TextBox 20"/>
          <p:cNvSpPr txBox="1"/>
          <p:nvPr/>
        </p:nvSpPr>
        <p:spPr>
          <a:xfrm>
            <a:off x="457200" y="6353175"/>
            <a:ext cx="155361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www.blueprint-steel.com</a:t>
            </a:r>
          </a:p>
        </p:txBody>
      </p:sp>
      <p:sp>
        <p:nvSpPr>
          <p:cNvPr id="22" name="Rectangle 21"/>
          <p:cNvSpPr/>
          <p:nvPr/>
        </p:nvSpPr>
        <p:spPr>
          <a:xfrm>
            <a:off x="2220366" y="6443662"/>
            <a:ext cx="9514433"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ectangle 22"/>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ounded Rectangle 2"/>
          <p:cNvSpPr/>
          <p:nvPr/>
        </p:nvSpPr>
        <p:spPr>
          <a:xfrm rot="2700000">
            <a:off x="11825428" y="585927"/>
            <a:ext cx="161643"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ectangle 3"/>
          <p:cNvSpPr/>
          <p:nvPr/>
        </p:nvSpPr>
        <p:spPr>
          <a:xfrm rot="2700000">
            <a:off x="11825428" y="814527"/>
            <a:ext cx="161643" cy="161645"/>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rot="2700000">
            <a:off x="11825428" y="1043127"/>
            <a:ext cx="161643"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3933229" y="533400"/>
            <a:ext cx="4344590" cy="50289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8000"/>
              </a:lnSpc>
              <a:defRPr i="0" sz="3600" b="0">
                <a:solidFill>
                  <a:srgbClr val="111827"/>
                </a:solidFill>
                <a:latin typeface="Albert Sans"/>
              </a:defRPr>
            </a:pPr>
            <a:r>
              <a:rPr i="0" sz="3600" b="0">
                <a:solidFill>
                  <a:srgbClr val="111827"/>
                </a:solidFill>
                <a:latin typeface="Albert Sans"/>
              </a:rPr>
              <a:t>The Engines of Trust</a:t>
            </a:r>
          </a:p>
        </p:txBody>
      </p:sp>
      <p:sp>
        <p:nvSpPr>
          <p:cNvPr id="7" name="Rounded Rectangle 6"/>
          <p:cNvSpPr/>
          <p:nvPr/>
        </p:nvSpPr>
        <p:spPr>
          <a:xfrm>
            <a:off x="2667000" y="1226790"/>
            <a:ext cx="6858000" cy="685800"/>
          </a:xfrm>
          <a:prstGeom prst="roundRect">
            <a:avLst>
              <a:gd name="adj" fmla="val 8333"/>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14300" bIns="114300"/>
          <a:lstStyle/>
          <a:p>
            <a:pPr algn="ctr"/>
          </a:p>
        </p:txBody>
      </p:sp>
      <p:sp>
        <p:nvSpPr>
          <p:cNvPr id="8" name="TextBox 7"/>
          <p:cNvSpPr txBox="1"/>
          <p:nvPr/>
        </p:nvSpPr>
        <p:spPr>
          <a:xfrm>
            <a:off x="2895600" y="1341090"/>
            <a:ext cx="6419850" cy="4572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6B7280"/>
                </a:solidFill>
                <a:latin typeface="Albert Sans"/>
              </a:defRPr>
            </a:pPr>
            <a:r>
              <a:rPr i="0" sz="1200" b="0">
                <a:solidFill>
                  <a:srgbClr val="6B7280"/>
                </a:solidFill>
                <a:latin typeface="Albert Sans"/>
              </a:rPr>
              <a:t>Ranking execution and preventing hype through visibility mechanics and cryptographic security.</a:t>
            </a:r>
          </a:p>
        </p:txBody>
      </p:sp>
      <p:sp>
        <p:nvSpPr>
          <p:cNvPr id="9" name="Rectangle 8"/>
          <p:cNvSpPr/>
          <p:nvPr/>
        </p:nvSpPr>
        <p:spPr>
          <a:xfrm>
            <a:off x="457200" y="3503265"/>
            <a:ext cx="11277600" cy="38100"/>
          </a:xfrm>
          <a:prstGeom prst="rect">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1433214" y="2293590"/>
            <a:ext cx="753070" cy="381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76200" bIns="76200"/>
          <a:lstStyle/>
          <a:p>
            <a:pPr algn="ctr"/>
          </a:p>
        </p:txBody>
      </p:sp>
      <p:sp>
        <p:nvSpPr>
          <p:cNvPr id="11" name="TextBox 10"/>
          <p:cNvSpPr txBox="1"/>
          <p:nvPr/>
        </p:nvSpPr>
        <p:spPr>
          <a:xfrm>
            <a:off x="1623714" y="2369790"/>
            <a:ext cx="39112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FFFFFF"/>
                </a:solidFill>
                <a:latin typeface="Albert Sans"/>
              </a:defRPr>
            </a:pPr>
            <a:r>
              <a:rPr i="0" sz="1200" b="0">
                <a:solidFill>
                  <a:srgbClr val="FFFFFF"/>
                </a:solidFill>
                <a:latin typeface="Albert Sans"/>
              </a:rPr>
              <a:t>2026</a:t>
            </a:r>
          </a:p>
        </p:txBody>
      </p:sp>
      <p:sp>
        <p:nvSpPr>
          <p:cNvPr id="12" name="Rounded Rectangle 11"/>
          <p:cNvSpPr/>
          <p:nvPr/>
        </p:nvSpPr>
        <p:spPr>
          <a:xfrm>
            <a:off x="1714500" y="2750790"/>
            <a:ext cx="190500" cy="190500"/>
          </a:xfrm>
          <a:prstGeom prst="roundRect">
            <a:avLst>
              <a:gd name="adj" fmla="val 50000"/>
            </a:avLst>
          </a:prstGeom>
          <a:solidFill>
            <a:srgbClr val="FFFFFF"/>
          </a:solidFill>
          <a:ln w="381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571500" y="3093690"/>
            <a:ext cx="2476500" cy="2000250"/>
          </a:xfrm>
          <a:prstGeom prst="roundRect">
            <a:avLst>
              <a:gd name="adj" fmla="val 7619"/>
            </a:avLst>
          </a:prstGeom>
          <a:solidFill>
            <a:srgbClr val="FFFF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90500"/>
          <a:lstStyle/>
          <a:p>
            <a:pPr algn="ctr"/>
          </a:p>
        </p:txBody>
      </p:sp>
      <p:sp>
        <p:nvSpPr>
          <p:cNvPr id="14" name="Rounded Rectangle 13"/>
          <p:cNvSpPr/>
          <p:nvPr/>
        </p:nvSpPr>
        <p:spPr>
          <a:xfrm>
            <a:off x="1581150" y="3322290"/>
            <a:ext cx="457200" cy="4572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74cedf49-de74-4f50-8ccf-84472d10bb1b.png"/>
          <p:cNvPicPr>
            <a:picLocks noChangeAspect="1"/>
          </p:cNvPicPr>
          <p:nvPr/>
        </p:nvPicPr>
        <p:blipFill>
          <a:blip r:embed="rId3"/>
          <a:stretch>
            <a:fillRect/>
          </a:stretch>
        </p:blipFill>
        <p:spPr>
          <a:xfrm>
            <a:off x="1695450" y="3436590"/>
            <a:ext cx="228600" cy="228600"/>
          </a:xfrm>
          <a:prstGeom prst="rect">
            <a:avLst/>
          </a:prstGeom>
        </p:spPr>
      </p:pic>
      <p:sp>
        <p:nvSpPr>
          <p:cNvPr id="16" name="TextBox 15"/>
          <p:cNvSpPr txBox="1"/>
          <p:nvPr/>
        </p:nvSpPr>
        <p:spPr>
          <a:xfrm>
            <a:off x="800100" y="3931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350" b="0">
                <a:solidFill>
                  <a:srgbClr val="111827"/>
                </a:solidFill>
                <a:latin typeface="Albert Sans"/>
              </a:defRPr>
            </a:pPr>
            <a:r>
              <a:rPr i="0" sz="1350" b="0">
                <a:solidFill>
                  <a:srgbClr val="111827"/>
                </a:solidFill>
                <a:latin typeface="Albert Sans"/>
              </a:rPr>
              <a:t>Momentum Engine</a:t>
            </a:r>
          </a:p>
        </p:txBody>
      </p:sp>
      <p:sp>
        <p:nvSpPr>
          <p:cNvPr id="17" name="TextBox 16"/>
          <p:cNvSpPr txBox="1"/>
          <p:nvPr/>
        </p:nvSpPr>
        <p:spPr>
          <a:xfrm>
            <a:off x="800100" y="4303365"/>
            <a:ext cx="2038350" cy="6000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050" b="0">
                <a:solidFill>
                  <a:srgbClr val="6B7280"/>
                </a:solidFill>
                <a:latin typeface="Albert Sans"/>
              </a:defRPr>
            </a:pPr>
            <a:r>
              <a:rPr i="0" sz="1050" b="0">
                <a:solidFill>
                  <a:srgbClr val="6B7280"/>
                </a:solidFill>
                <a:latin typeface="Albert Sans"/>
              </a:rPr>
              <a:t>Profiles rank on </a:t>
            </a:r>
            <a:r>
              <a:rPr i="0" sz="1050" b="1">
                <a:solidFill>
                  <a:srgbClr val="6B7280"/>
                </a:solidFill>
                <a:latin typeface="Albert Sans"/>
              </a:rPr>
              <a:t>execution</a:t>
            </a:r>
            <a:r>
              <a:rPr i="0" sz="1050" b="0">
                <a:solidFill>
                  <a:srgbClr val="6B7280"/>
                </a:solidFill>
                <a:latin typeface="Albert Sans"/>
              </a:rPr>
              <a:t> via consistent milestone updates to increase visibility.</a:t>
            </a:r>
          </a:p>
        </p:txBody>
      </p:sp>
      <p:sp>
        <p:nvSpPr>
          <p:cNvPr id="18" name="Rounded Rectangle 17"/>
          <p:cNvSpPr/>
          <p:nvPr/>
        </p:nvSpPr>
        <p:spPr>
          <a:xfrm>
            <a:off x="4290714" y="2293590"/>
            <a:ext cx="753070" cy="381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76200" bIns="76200"/>
          <a:lstStyle/>
          <a:p>
            <a:pPr algn="ctr"/>
          </a:p>
        </p:txBody>
      </p:sp>
      <p:sp>
        <p:nvSpPr>
          <p:cNvPr id="19" name="TextBox 18"/>
          <p:cNvSpPr txBox="1"/>
          <p:nvPr/>
        </p:nvSpPr>
        <p:spPr>
          <a:xfrm>
            <a:off x="4481214" y="2369790"/>
            <a:ext cx="39112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FFFFFF"/>
                </a:solidFill>
                <a:latin typeface="Albert Sans"/>
              </a:defRPr>
            </a:pPr>
            <a:r>
              <a:rPr i="0" sz="1200" b="0">
                <a:solidFill>
                  <a:srgbClr val="FFFFFF"/>
                </a:solidFill>
                <a:latin typeface="Albert Sans"/>
              </a:rPr>
              <a:t>2026</a:t>
            </a:r>
          </a:p>
        </p:txBody>
      </p:sp>
      <p:sp>
        <p:nvSpPr>
          <p:cNvPr id="20" name="Rounded Rectangle 19"/>
          <p:cNvSpPr/>
          <p:nvPr/>
        </p:nvSpPr>
        <p:spPr>
          <a:xfrm>
            <a:off x="4572000" y="2750790"/>
            <a:ext cx="190500" cy="190500"/>
          </a:xfrm>
          <a:prstGeom prst="roundRect">
            <a:avLst>
              <a:gd name="adj" fmla="val 50000"/>
            </a:avLst>
          </a:prstGeom>
          <a:solidFill>
            <a:srgbClr val="FFFFFF"/>
          </a:solidFill>
          <a:ln w="381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3429000" y="3093690"/>
            <a:ext cx="2476500" cy="2000250"/>
          </a:xfrm>
          <a:prstGeom prst="roundRect">
            <a:avLst>
              <a:gd name="adj" fmla="val 7619"/>
            </a:avLst>
          </a:prstGeom>
          <a:solidFill>
            <a:srgbClr val="FFFF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90500"/>
          <a:lstStyle/>
          <a:p>
            <a:pPr algn="ctr"/>
          </a:p>
        </p:txBody>
      </p:sp>
      <p:sp>
        <p:nvSpPr>
          <p:cNvPr id="22" name="Rounded Rectangle 21"/>
          <p:cNvSpPr/>
          <p:nvPr/>
        </p:nvSpPr>
        <p:spPr>
          <a:xfrm>
            <a:off x="4438650" y="3322290"/>
            <a:ext cx="457200" cy="4572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3" name="Picture 22" descr="87b0a47a-d0d8-453b-826b-511b0ab44d5c.png"/>
          <p:cNvPicPr>
            <a:picLocks noChangeAspect="1"/>
          </p:cNvPicPr>
          <p:nvPr/>
        </p:nvPicPr>
        <p:blipFill>
          <a:blip r:embed="rId4"/>
          <a:stretch>
            <a:fillRect/>
          </a:stretch>
        </p:blipFill>
        <p:spPr>
          <a:xfrm>
            <a:off x="4552950" y="3436590"/>
            <a:ext cx="228600" cy="228600"/>
          </a:xfrm>
          <a:prstGeom prst="rect">
            <a:avLst/>
          </a:prstGeom>
        </p:spPr>
      </p:pic>
      <p:sp>
        <p:nvSpPr>
          <p:cNvPr id="24" name="TextBox 23"/>
          <p:cNvSpPr txBox="1"/>
          <p:nvPr/>
        </p:nvSpPr>
        <p:spPr>
          <a:xfrm>
            <a:off x="3657600" y="3931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350" b="0">
                <a:solidFill>
                  <a:srgbClr val="111827"/>
                </a:solidFill>
                <a:latin typeface="Albert Sans"/>
              </a:defRPr>
            </a:pPr>
            <a:r>
              <a:rPr i="0" sz="1350" b="0">
                <a:solidFill>
                  <a:srgbClr val="111827"/>
                </a:solidFill>
                <a:latin typeface="Albert Sans"/>
              </a:rPr>
              <a:t>Anti-Hype Decay</a:t>
            </a:r>
          </a:p>
        </p:txBody>
      </p:sp>
      <p:sp>
        <p:nvSpPr>
          <p:cNvPr id="25" name="TextBox 24"/>
          <p:cNvSpPr txBox="1"/>
          <p:nvPr/>
        </p:nvSpPr>
        <p:spPr>
          <a:xfrm>
            <a:off x="3657600" y="4303365"/>
            <a:ext cx="2038350" cy="6000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050" b="0">
                <a:solidFill>
                  <a:srgbClr val="6B7280"/>
                </a:solidFill>
                <a:latin typeface="Albert Sans"/>
              </a:defRPr>
            </a:pPr>
            <a:r>
              <a:rPr i="0" sz="1050" b="0">
                <a:solidFill>
                  <a:srgbClr val="6B7280"/>
                </a:solidFill>
                <a:latin typeface="Albert Sans"/>
              </a:rPr>
              <a:t>Silent founders face </a:t>
            </a:r>
            <a:r>
              <a:rPr i="0" sz="1050" b="1">
                <a:solidFill>
                  <a:srgbClr val="6B7280"/>
                </a:solidFill>
                <a:latin typeface="Albert Sans"/>
              </a:rPr>
              <a:t>visibility decay</a:t>
            </a:r>
            <a:r>
              <a:rPr i="0" sz="1050" b="0">
                <a:solidFill>
                  <a:srgbClr val="6B7280"/>
                </a:solidFill>
                <a:latin typeface="Albert Sans"/>
              </a:rPr>
              <a:t> mechanisms to ensure rankings are merit-based.</a:t>
            </a:r>
          </a:p>
        </p:txBody>
      </p:sp>
      <p:sp>
        <p:nvSpPr>
          <p:cNvPr id="26" name="Rounded Rectangle 25"/>
          <p:cNvSpPr/>
          <p:nvPr/>
        </p:nvSpPr>
        <p:spPr>
          <a:xfrm>
            <a:off x="7148214" y="2293590"/>
            <a:ext cx="753070" cy="381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76200" bIns="76200"/>
          <a:lstStyle/>
          <a:p>
            <a:pPr algn="ctr"/>
          </a:p>
        </p:txBody>
      </p:sp>
      <p:sp>
        <p:nvSpPr>
          <p:cNvPr id="27" name="TextBox 26"/>
          <p:cNvSpPr txBox="1"/>
          <p:nvPr/>
        </p:nvSpPr>
        <p:spPr>
          <a:xfrm>
            <a:off x="7338714" y="2369790"/>
            <a:ext cx="39112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FFFFFF"/>
                </a:solidFill>
                <a:latin typeface="Albert Sans"/>
              </a:defRPr>
            </a:pPr>
            <a:r>
              <a:rPr i="0" sz="1200" b="0">
                <a:solidFill>
                  <a:srgbClr val="FFFFFF"/>
                </a:solidFill>
                <a:latin typeface="Albert Sans"/>
              </a:rPr>
              <a:t>2026</a:t>
            </a:r>
          </a:p>
        </p:txBody>
      </p:sp>
      <p:sp>
        <p:nvSpPr>
          <p:cNvPr id="28" name="Rounded Rectangle 27"/>
          <p:cNvSpPr/>
          <p:nvPr/>
        </p:nvSpPr>
        <p:spPr>
          <a:xfrm>
            <a:off x="7429500" y="2750790"/>
            <a:ext cx="190500" cy="190500"/>
          </a:xfrm>
          <a:prstGeom prst="roundRect">
            <a:avLst>
              <a:gd name="adj" fmla="val 50000"/>
            </a:avLst>
          </a:prstGeom>
          <a:solidFill>
            <a:srgbClr val="FFFFFF"/>
          </a:solidFill>
          <a:ln w="381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ounded Rectangle 28"/>
          <p:cNvSpPr/>
          <p:nvPr/>
        </p:nvSpPr>
        <p:spPr>
          <a:xfrm>
            <a:off x="6286500" y="3093690"/>
            <a:ext cx="2476500" cy="2000250"/>
          </a:xfrm>
          <a:prstGeom prst="roundRect">
            <a:avLst>
              <a:gd name="adj" fmla="val 7619"/>
            </a:avLst>
          </a:prstGeom>
          <a:solidFill>
            <a:srgbClr val="FFFF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90500"/>
          <a:lstStyle/>
          <a:p>
            <a:pPr algn="ctr"/>
          </a:p>
        </p:txBody>
      </p:sp>
      <p:sp>
        <p:nvSpPr>
          <p:cNvPr id="30" name="Rounded Rectangle 29"/>
          <p:cNvSpPr/>
          <p:nvPr/>
        </p:nvSpPr>
        <p:spPr>
          <a:xfrm>
            <a:off x="7296150" y="3322290"/>
            <a:ext cx="457200" cy="4572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1" name="Picture 30" descr="5a26045c-3fe7-43c1-9d6c-d0ef4b0c08a6.png"/>
          <p:cNvPicPr>
            <a:picLocks noChangeAspect="1"/>
          </p:cNvPicPr>
          <p:nvPr/>
        </p:nvPicPr>
        <p:blipFill>
          <a:blip r:embed="rId5"/>
          <a:stretch>
            <a:fillRect/>
          </a:stretch>
        </p:blipFill>
        <p:spPr>
          <a:xfrm>
            <a:off x="7410450" y="3436590"/>
            <a:ext cx="228600" cy="228600"/>
          </a:xfrm>
          <a:prstGeom prst="rect">
            <a:avLst/>
          </a:prstGeom>
        </p:spPr>
      </p:pic>
      <p:sp>
        <p:nvSpPr>
          <p:cNvPr id="32" name="TextBox 31"/>
          <p:cNvSpPr txBox="1"/>
          <p:nvPr/>
        </p:nvSpPr>
        <p:spPr>
          <a:xfrm>
            <a:off x="6515100" y="3931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350" b="0">
                <a:solidFill>
                  <a:srgbClr val="111827"/>
                </a:solidFill>
                <a:latin typeface="Albert Sans"/>
              </a:defRPr>
            </a:pPr>
            <a:r>
              <a:rPr i="0" sz="1350" b="0">
                <a:solidFill>
                  <a:srgbClr val="111827"/>
                </a:solidFill>
                <a:latin typeface="Albert Sans"/>
              </a:rPr>
              <a:t>Verified Dossiers</a:t>
            </a:r>
          </a:p>
        </p:txBody>
      </p:sp>
      <p:sp>
        <p:nvSpPr>
          <p:cNvPr id="33" name="TextBox 32"/>
          <p:cNvSpPr txBox="1"/>
          <p:nvPr/>
        </p:nvSpPr>
        <p:spPr>
          <a:xfrm>
            <a:off x="6515100" y="4303365"/>
            <a:ext cx="2038350" cy="6000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050" b="0">
                <a:solidFill>
                  <a:srgbClr val="6B7280"/>
                </a:solidFill>
                <a:latin typeface="Albert Sans"/>
              </a:defRPr>
            </a:pPr>
            <a:r>
              <a:rPr i="0" sz="1050" b="0">
                <a:solidFill>
                  <a:srgbClr val="6B7280"/>
                </a:solidFill>
                <a:latin typeface="Albert Sans"/>
              </a:rPr>
              <a:t>Features </a:t>
            </a:r>
            <a:r>
              <a:rPr i="0" sz="1050" b="1">
                <a:solidFill>
                  <a:srgbClr val="6B7280"/>
                </a:solidFill>
                <a:latin typeface="Albert Sans"/>
              </a:rPr>
              <a:t>exportable verified dossiers</a:t>
            </a:r>
            <a:r>
              <a:rPr i="0" sz="1050" b="0">
                <a:solidFill>
                  <a:srgbClr val="6B7280"/>
                </a:solidFill>
                <a:latin typeface="Albert Sans"/>
              </a:rPr>
              <a:t> designed specifically for legal teams.</a:t>
            </a:r>
          </a:p>
        </p:txBody>
      </p:sp>
      <p:sp>
        <p:nvSpPr>
          <p:cNvPr id="34" name="Rounded Rectangle 33"/>
          <p:cNvSpPr/>
          <p:nvPr/>
        </p:nvSpPr>
        <p:spPr>
          <a:xfrm>
            <a:off x="10005714" y="2293590"/>
            <a:ext cx="753070" cy="381000"/>
          </a:xfrm>
          <a:prstGeom prst="roundRect">
            <a:avLst>
              <a:gd name="adj" fmla="val 1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76200" bIns="76200"/>
          <a:lstStyle/>
          <a:p>
            <a:pPr algn="ctr"/>
          </a:p>
        </p:txBody>
      </p:sp>
      <p:sp>
        <p:nvSpPr>
          <p:cNvPr id="35" name="TextBox 34"/>
          <p:cNvSpPr txBox="1"/>
          <p:nvPr/>
        </p:nvSpPr>
        <p:spPr>
          <a:xfrm>
            <a:off x="10196214" y="2369790"/>
            <a:ext cx="39112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FFFFFF"/>
                </a:solidFill>
                <a:latin typeface="Albert Sans"/>
              </a:defRPr>
            </a:pPr>
            <a:r>
              <a:rPr i="0" sz="1200" b="0">
                <a:solidFill>
                  <a:srgbClr val="FFFFFF"/>
                </a:solidFill>
                <a:latin typeface="Albert Sans"/>
              </a:rPr>
              <a:t>2026</a:t>
            </a:r>
          </a:p>
        </p:txBody>
      </p:sp>
      <p:sp>
        <p:nvSpPr>
          <p:cNvPr id="36" name="Rounded Rectangle 35"/>
          <p:cNvSpPr/>
          <p:nvPr/>
        </p:nvSpPr>
        <p:spPr>
          <a:xfrm>
            <a:off x="10287000" y="2750790"/>
            <a:ext cx="190500" cy="190500"/>
          </a:xfrm>
          <a:prstGeom prst="roundRect">
            <a:avLst>
              <a:gd name="adj" fmla="val 50000"/>
            </a:avLst>
          </a:prstGeom>
          <a:solidFill>
            <a:srgbClr val="FFFFFF"/>
          </a:solidFill>
          <a:ln w="381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9144000" y="3093690"/>
            <a:ext cx="2476500" cy="2000250"/>
          </a:xfrm>
          <a:prstGeom prst="roundRect">
            <a:avLst>
              <a:gd name="adj" fmla="val 7619"/>
            </a:avLst>
          </a:prstGeom>
          <a:solidFill>
            <a:srgbClr val="FFFF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90500"/>
          <a:lstStyle/>
          <a:p>
            <a:pPr algn="ctr"/>
          </a:p>
        </p:txBody>
      </p:sp>
      <p:sp>
        <p:nvSpPr>
          <p:cNvPr id="38" name="Rounded Rectangle 37"/>
          <p:cNvSpPr/>
          <p:nvPr/>
        </p:nvSpPr>
        <p:spPr>
          <a:xfrm>
            <a:off x="10153650" y="3322290"/>
            <a:ext cx="457200" cy="457200"/>
          </a:xfrm>
          <a:prstGeom prst="roundRect">
            <a:avLst>
              <a:gd name="adj" fmla="val 500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9" name="Picture 38" descr="7fe8a28a-24e4-4ac2-bd3c-76d6b1d03674.png"/>
          <p:cNvPicPr>
            <a:picLocks noChangeAspect="1"/>
          </p:cNvPicPr>
          <p:nvPr/>
        </p:nvPicPr>
        <p:blipFill>
          <a:blip r:embed="rId6"/>
          <a:stretch>
            <a:fillRect/>
          </a:stretch>
        </p:blipFill>
        <p:spPr>
          <a:xfrm>
            <a:off x="10267950" y="3436590"/>
            <a:ext cx="228600" cy="228600"/>
          </a:xfrm>
          <a:prstGeom prst="rect">
            <a:avLst/>
          </a:prstGeom>
        </p:spPr>
      </p:pic>
      <p:sp>
        <p:nvSpPr>
          <p:cNvPr id="40" name="TextBox 39"/>
          <p:cNvSpPr txBox="1"/>
          <p:nvPr/>
        </p:nvSpPr>
        <p:spPr>
          <a:xfrm>
            <a:off x="9372600" y="3931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350" b="0">
                <a:solidFill>
                  <a:srgbClr val="111827"/>
                </a:solidFill>
                <a:latin typeface="Albert Sans"/>
              </a:defRPr>
            </a:pPr>
            <a:r>
              <a:rPr i="0" sz="1350" b="0">
                <a:solidFill>
                  <a:srgbClr val="111827"/>
                </a:solidFill>
                <a:latin typeface="Albert Sans"/>
              </a:rPr>
              <a:t>Encrypted Negotiation</a:t>
            </a:r>
          </a:p>
        </p:txBody>
      </p:sp>
      <p:sp>
        <p:nvSpPr>
          <p:cNvPr id="41" name="TextBox 40"/>
          <p:cNvSpPr txBox="1"/>
          <p:nvPr/>
        </p:nvSpPr>
        <p:spPr>
          <a:xfrm>
            <a:off x="9372600" y="4303365"/>
            <a:ext cx="2038350" cy="600075"/>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050" b="0">
                <a:solidFill>
                  <a:srgbClr val="6B7280"/>
                </a:solidFill>
                <a:latin typeface="Albert Sans"/>
              </a:defRPr>
            </a:pPr>
            <a:r>
              <a:rPr i="0" sz="1050" b="0">
                <a:solidFill>
                  <a:srgbClr val="6B7280"/>
                </a:solidFill>
                <a:latin typeface="Albert Sans"/>
              </a:rPr>
              <a:t>Uses </a:t>
            </a:r>
            <a:r>
              <a:rPr i="0" sz="1050" b="1">
                <a:solidFill>
                  <a:srgbClr val="6B7280"/>
                </a:solidFill>
                <a:latin typeface="Albert Sans"/>
              </a:rPr>
              <a:t>asymmetric cryptography</a:t>
            </a:r>
            <a:r>
              <a:rPr i="0" sz="1050" b="0">
                <a:solidFill>
                  <a:srgbClr val="6B7280"/>
                </a:solidFill>
                <a:latin typeface="Albert Sans"/>
              </a:rPr>
              <a:t> for secure and encrypted negotiation protocols.</a:t>
            </a:r>
          </a:p>
        </p:txBody>
      </p:sp>
      <p:sp>
        <p:nvSpPr>
          <p:cNvPr id="42" name="TextBox 41"/>
          <p:cNvSpPr txBox="1"/>
          <p:nvPr/>
        </p:nvSpPr>
        <p:spPr>
          <a:xfrm>
            <a:off x="457200" y="6353175"/>
            <a:ext cx="107811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trustengines.com</a:t>
            </a:r>
          </a:p>
        </p:txBody>
      </p:sp>
      <p:sp>
        <p:nvSpPr>
          <p:cNvPr id="43" name="Rectangle 42"/>
          <p:cNvSpPr/>
          <p:nvPr/>
        </p:nvSpPr>
        <p:spPr>
          <a:xfrm>
            <a:off x="1744860" y="6443662"/>
            <a:ext cx="9989939"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ectangle 43"/>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The Asymmetric Tech Stack</a:t>
            </a:r>
          </a:p>
        </p:txBody>
      </p:sp>
      <p:sp>
        <p:nvSpPr>
          <p:cNvPr id="4" name="TextBox 3"/>
          <p:cNvSpPr txBox="1"/>
          <p:nvPr/>
        </p:nvSpPr>
        <p:spPr>
          <a:xfrm>
            <a:off x="457200" y="1150590"/>
            <a:ext cx="85915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6B7280"/>
                </a:solidFill>
                <a:latin typeface="Albert Sans"/>
              </a:defRPr>
            </a:pPr>
            <a:r>
              <a:rPr i="0" sz="1200" b="0">
                <a:solidFill>
                  <a:srgbClr val="6B7280"/>
                </a:solidFill>
                <a:latin typeface="Albert Sans"/>
              </a:rPr>
              <a:t>Overview of the core technologies powering performance and cost-efficiency.</a:t>
            </a:r>
          </a:p>
        </p:txBody>
      </p:sp>
      <p:sp>
        <p:nvSpPr>
          <p:cNvPr id="5" name="Rounded Rectangle 4"/>
          <p:cNvSpPr/>
          <p:nvPr/>
        </p:nvSpPr>
        <p:spPr>
          <a:xfrm>
            <a:off x="457200" y="1607790"/>
            <a:ext cx="11277600" cy="3886200"/>
          </a:xfrm>
          <a:prstGeom prst="roundRect">
            <a:avLst>
              <a:gd name="adj" fmla="val 2941"/>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ctr"/>
          </a:p>
        </p:txBody>
      </p:sp>
      <p:sp>
        <p:nvSpPr>
          <p:cNvPr id="6" name="Rounded Rectangle 5"/>
          <p:cNvSpPr/>
          <p:nvPr/>
        </p:nvSpPr>
        <p:spPr>
          <a:xfrm>
            <a:off x="647700" y="1798290"/>
            <a:ext cx="10896600" cy="3505200"/>
          </a:xfrm>
          <a:prstGeom prst="roundRect">
            <a:avLst>
              <a:gd name="adj" fmla="val 2173"/>
            </a:avLst>
          </a:prstGeom>
          <a:solidFill>
            <a:srgbClr val="FFFFFF"/>
          </a:solidFill>
          <a:ln>
            <a:noFill/>
          </a:ln>
          <a:effectLst>
            <a:outerShdw blurRad="0" dir="0" dist="0" rotWithShape="0">
              <a:srgbClr val="3b82f6">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dfe0d80c-bf68-4a13-a99c-27e07d464322.png"/>
          <p:cNvPicPr>
            <a:picLocks noChangeAspect="1"/>
          </p:cNvPicPr>
          <p:nvPr/>
        </p:nvPicPr>
        <p:blipFill>
          <a:blip r:embed="rId3"/>
          <a:stretch>
            <a:fillRect/>
          </a:stretch>
        </p:blipFill>
        <p:spPr>
          <a:xfrm>
            <a:off x="647700" y="1798290"/>
            <a:ext cx="10896600" cy="3505200"/>
          </a:xfrm>
          <a:prstGeom prst="rect">
            <a:avLst/>
          </a:prstGeom>
        </p:spPr>
      </p:pic>
      <p:sp>
        <p:nvSpPr>
          <p:cNvPr id="8" name="TextBox 7"/>
          <p:cNvSpPr txBox="1"/>
          <p:nvPr/>
        </p:nvSpPr>
        <p:spPr>
          <a:xfrm>
            <a:off x="800100" y="1912590"/>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111827"/>
                </a:solidFill>
                <a:latin typeface="Albert Sans"/>
              </a:defRPr>
            </a:pPr>
            <a:r>
              <a:rPr i="0" sz="1050" b="0">
                <a:solidFill>
                  <a:srgbClr val="111827"/>
                </a:solidFill>
                <a:latin typeface="Albert Sans"/>
              </a:rPr>
              <a:t>Technology</a:t>
            </a:r>
          </a:p>
        </p:txBody>
      </p:sp>
      <p:sp>
        <p:nvSpPr>
          <p:cNvPr id="9" name="TextBox 8"/>
          <p:cNvSpPr txBox="1"/>
          <p:nvPr/>
        </p:nvSpPr>
        <p:spPr>
          <a:xfrm>
            <a:off x="800100" y="2350740"/>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111827"/>
                </a:solidFill>
                <a:latin typeface="Albert Sans"/>
              </a:defRPr>
            </a:pPr>
            <a:r>
              <a:rPr i="0" sz="1050" b="0">
                <a:solidFill>
                  <a:srgbClr val="111827"/>
                </a:solidFill>
                <a:latin typeface="Albert Sans"/>
              </a:rPr>
              <a:t>Primary Function</a:t>
            </a:r>
          </a:p>
        </p:txBody>
      </p:sp>
      <p:sp>
        <p:nvSpPr>
          <p:cNvPr id="10" name="TextBox 9"/>
          <p:cNvSpPr txBox="1"/>
          <p:nvPr/>
        </p:nvSpPr>
        <p:spPr>
          <a:xfrm>
            <a:off x="800100" y="279841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1">
                <a:solidFill>
                  <a:srgbClr val="6B7280"/>
                </a:solidFill>
                <a:latin typeface="Albert Sans"/>
              </a:rPr>
              <a:t>Next.js on Vercel</a:t>
            </a:r>
          </a:p>
        </p:txBody>
      </p:sp>
      <p:sp>
        <p:nvSpPr>
          <p:cNvPr id="11" name="TextBox 10"/>
          <p:cNvSpPr txBox="1"/>
          <p:nvPr/>
        </p:nvSpPr>
        <p:spPr>
          <a:xfrm>
            <a:off x="800100" y="323656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Instant edge loading and low latency</a:t>
            </a:r>
          </a:p>
        </p:txBody>
      </p:sp>
      <p:sp>
        <p:nvSpPr>
          <p:cNvPr id="12" name="TextBox 11"/>
          <p:cNvSpPr txBox="1"/>
          <p:nvPr/>
        </p:nvSpPr>
        <p:spPr>
          <a:xfrm>
            <a:off x="800100" y="367471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1">
                <a:solidFill>
                  <a:srgbClr val="6B7280"/>
                </a:solidFill>
                <a:latin typeface="Albert Sans"/>
              </a:rPr>
              <a:t>Supabase</a:t>
            </a:r>
          </a:p>
        </p:txBody>
      </p:sp>
      <p:sp>
        <p:nvSpPr>
          <p:cNvPr id="13" name="TextBox 12"/>
          <p:cNvSpPr txBox="1"/>
          <p:nvPr/>
        </p:nvSpPr>
        <p:spPr>
          <a:xfrm>
            <a:off x="800100" y="411286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Secure PostgreSQL and real-time WebSockets</a:t>
            </a:r>
          </a:p>
        </p:txBody>
      </p:sp>
      <p:sp>
        <p:nvSpPr>
          <p:cNvPr id="14" name="TextBox 13"/>
          <p:cNvSpPr txBox="1"/>
          <p:nvPr/>
        </p:nvSpPr>
        <p:spPr>
          <a:xfrm>
            <a:off x="800100" y="455101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1">
                <a:solidFill>
                  <a:srgbClr val="6B7280"/>
                </a:solidFill>
                <a:latin typeface="Albert Sans"/>
              </a:rPr>
              <a:t>Cloudflare R2</a:t>
            </a:r>
          </a:p>
        </p:txBody>
      </p:sp>
      <p:sp>
        <p:nvSpPr>
          <p:cNvPr id="15" name="TextBox 14"/>
          <p:cNvSpPr txBox="1"/>
          <p:nvPr/>
        </p:nvSpPr>
        <p:spPr>
          <a:xfrm>
            <a:off x="800100" y="4989165"/>
            <a:ext cx="1061085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Zero-egress storage for heavy 4K videos</a:t>
            </a:r>
          </a:p>
        </p:txBody>
      </p:sp>
      <p:sp>
        <p:nvSpPr>
          <p:cNvPr id="16" name="TextBox 15"/>
          <p:cNvSpPr txBox="1"/>
          <p:nvPr/>
        </p:nvSpPr>
        <p:spPr>
          <a:xfrm>
            <a:off x="457200" y="6353175"/>
            <a:ext cx="1274117"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asymmetric-stack.io</a:t>
            </a:r>
          </a:p>
        </p:txBody>
      </p:sp>
      <p:sp>
        <p:nvSpPr>
          <p:cNvPr id="17" name="Rectangle 16"/>
          <p:cNvSpPr/>
          <p:nvPr/>
        </p:nvSpPr>
        <p:spPr>
          <a:xfrm>
            <a:off x="1940867" y="6443662"/>
            <a:ext cx="9793932"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2700000">
            <a:off x="433527" y="204927"/>
            <a:ext cx="161644" cy="161645"/>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495300"/>
            <a:ext cx="5962650" cy="56004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Expansion Vision</a:t>
            </a:r>
          </a:p>
        </p:txBody>
      </p:sp>
      <p:sp>
        <p:nvSpPr>
          <p:cNvPr id="4" name="TextBox 3"/>
          <p:cNvSpPr txBox="1"/>
          <p:nvPr/>
        </p:nvSpPr>
        <p:spPr>
          <a:xfrm>
            <a:off x="6781800" y="495300"/>
            <a:ext cx="49720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111827"/>
                </a:solidFill>
                <a:latin typeface="Albert Sans"/>
              </a:defRPr>
            </a:pPr>
            <a:r>
              <a:rPr i="0" sz="1200" b="0">
                <a:solidFill>
                  <a:srgbClr val="111827"/>
                </a:solidFill>
                <a:latin typeface="Albert Sans"/>
              </a:rPr>
              <a:t>Global Readiness</a:t>
            </a:r>
          </a:p>
        </p:txBody>
      </p:sp>
      <p:sp>
        <p:nvSpPr>
          <p:cNvPr id="5" name="TextBox 4"/>
          <p:cNvSpPr txBox="1"/>
          <p:nvPr/>
        </p:nvSpPr>
        <p:spPr>
          <a:xfrm>
            <a:off x="6781800" y="800100"/>
            <a:ext cx="4972050" cy="42654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Morocco acts as a strategic crucible to validate </a:t>
            </a:r>
            <a:r>
              <a:rPr i="0" sz="1050" b="1">
                <a:solidFill>
                  <a:srgbClr val="6B7280"/>
                </a:solidFill>
                <a:latin typeface="Albert Sans"/>
              </a:rPr>
              <a:t>scalable unit economics</a:t>
            </a:r>
            <a:r>
              <a:rPr i="0" sz="1050" b="0">
                <a:solidFill>
                  <a:srgbClr val="6B7280"/>
                </a:solidFill>
                <a:latin typeface="Albert Sans"/>
              </a:rPr>
              <a:t> before broader expansion.</a:t>
            </a:r>
          </a:p>
        </p:txBody>
      </p:sp>
      <p:sp>
        <p:nvSpPr>
          <p:cNvPr id="6" name="Rounded Rectangle 5"/>
          <p:cNvSpPr/>
          <p:nvPr/>
        </p:nvSpPr>
        <p:spPr>
          <a:xfrm>
            <a:off x="255270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6332e690-ec33-489f-83ed-43aa9c85c677.png"/>
          <p:cNvPicPr>
            <a:picLocks noChangeAspect="1"/>
          </p:cNvPicPr>
          <p:nvPr/>
        </p:nvPicPr>
        <p:blipFill>
          <a:blip r:embed="rId3"/>
          <a:stretch>
            <a:fillRect/>
          </a:stretch>
        </p:blipFill>
        <p:spPr>
          <a:xfrm>
            <a:off x="3048000" y="2179141"/>
            <a:ext cx="533400" cy="533400"/>
          </a:xfrm>
          <a:prstGeom prst="rect">
            <a:avLst/>
          </a:prstGeom>
        </p:spPr>
      </p:pic>
      <p:sp>
        <p:nvSpPr>
          <p:cNvPr id="8" name="TextBox 7"/>
          <p:cNvSpPr txBox="1"/>
          <p:nvPr/>
        </p:nvSpPr>
        <p:spPr>
          <a:xfrm>
            <a:off x="2901255" y="3398341"/>
            <a:ext cx="845790"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Test Market</a:t>
            </a:r>
          </a:p>
        </p:txBody>
      </p:sp>
      <p:sp>
        <p:nvSpPr>
          <p:cNvPr id="9" name="TextBox 8"/>
          <p:cNvSpPr txBox="1"/>
          <p:nvPr/>
        </p:nvSpPr>
        <p:spPr>
          <a:xfrm>
            <a:off x="2076450" y="3703141"/>
            <a:ext cx="2495550" cy="39618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Morocco validates </a:t>
            </a:r>
            <a:r>
              <a:rPr i="0" sz="975" b="1">
                <a:solidFill>
                  <a:srgbClr val="6B7280"/>
                </a:solidFill>
                <a:latin typeface="Albert Sans"/>
              </a:rPr>
              <a:t>unit economics</a:t>
            </a:r>
            <a:r>
              <a:rPr i="0" sz="975" b="0">
                <a:solidFill>
                  <a:srgbClr val="6B7280"/>
                </a:solidFill>
                <a:latin typeface="Albert Sans"/>
              </a:rPr>
              <a:t> before scaling to the Global South.</a:t>
            </a:r>
          </a:p>
        </p:txBody>
      </p:sp>
      <p:sp>
        <p:nvSpPr>
          <p:cNvPr id="10" name="Rounded Rectangle 9"/>
          <p:cNvSpPr/>
          <p:nvPr/>
        </p:nvSpPr>
        <p:spPr>
          <a:xfrm>
            <a:off x="533400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726c88f4-251c-46ef-8aea-40d82e1d2139.png"/>
          <p:cNvPicPr>
            <a:picLocks noChangeAspect="1"/>
          </p:cNvPicPr>
          <p:nvPr/>
        </p:nvPicPr>
        <p:blipFill>
          <a:blip r:embed="rId4"/>
          <a:stretch>
            <a:fillRect/>
          </a:stretch>
        </p:blipFill>
        <p:spPr>
          <a:xfrm>
            <a:off x="5829300" y="2179141"/>
            <a:ext cx="533400" cy="533400"/>
          </a:xfrm>
          <a:prstGeom prst="rect">
            <a:avLst/>
          </a:prstGeom>
        </p:spPr>
      </p:pic>
      <p:sp>
        <p:nvSpPr>
          <p:cNvPr id="12" name="TextBox 11"/>
          <p:cNvSpPr txBox="1"/>
          <p:nvPr/>
        </p:nvSpPr>
        <p:spPr>
          <a:xfrm>
            <a:off x="5470177" y="3398341"/>
            <a:ext cx="1270545"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Native Languages</a:t>
            </a:r>
          </a:p>
        </p:txBody>
      </p:sp>
      <p:sp>
        <p:nvSpPr>
          <p:cNvPr id="13" name="TextBox 12"/>
          <p:cNvSpPr txBox="1"/>
          <p:nvPr/>
        </p:nvSpPr>
        <p:spPr>
          <a:xfrm>
            <a:off x="4857750" y="3703141"/>
            <a:ext cx="2495550" cy="39618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Supports </a:t>
            </a:r>
            <a:r>
              <a:rPr i="0" sz="975" b="1">
                <a:solidFill>
                  <a:srgbClr val="6B7280"/>
                </a:solidFill>
                <a:latin typeface="Albert Sans"/>
              </a:rPr>
              <a:t>English, French, Spanish, and Arabic</a:t>
            </a:r>
            <a:r>
              <a:rPr i="0" sz="975" b="0">
                <a:solidFill>
                  <a:srgbClr val="6B7280"/>
                </a:solidFill>
                <a:latin typeface="Albert Sans"/>
              </a:rPr>
              <a:t> with automatic RTL switching.</a:t>
            </a:r>
          </a:p>
        </p:txBody>
      </p:sp>
      <p:sp>
        <p:nvSpPr>
          <p:cNvPr id="14" name="Rounded Rectangle 13"/>
          <p:cNvSpPr/>
          <p:nvPr/>
        </p:nvSpPr>
        <p:spPr>
          <a:xfrm>
            <a:off x="8115300" y="1683841"/>
            <a:ext cx="1524000" cy="1524000"/>
          </a:xfrm>
          <a:prstGeom prst="roundRect">
            <a:avLst>
              <a:gd name="adj" fmla="val 50000"/>
            </a:avLst>
          </a:prstGeom>
          <a:solidFill>
            <a:srgbClr val="BFF4FF"/>
          </a:solidFill>
          <a:ln>
            <a:noFill/>
          </a:ln>
          <a:effectLst>
            <a:outerShdw blurRad="19050" dir="5400000" dist="9525"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0d0a77eb-66ac-40e5-bb42-6660490b19d4.png"/>
          <p:cNvPicPr>
            <a:picLocks noChangeAspect="1"/>
          </p:cNvPicPr>
          <p:nvPr/>
        </p:nvPicPr>
        <p:blipFill>
          <a:blip r:embed="rId5"/>
          <a:stretch>
            <a:fillRect/>
          </a:stretch>
        </p:blipFill>
        <p:spPr>
          <a:xfrm>
            <a:off x="8610600" y="2179141"/>
            <a:ext cx="533400" cy="533400"/>
          </a:xfrm>
          <a:prstGeom prst="rect">
            <a:avLst/>
          </a:prstGeom>
        </p:spPr>
      </p:pic>
      <p:sp>
        <p:nvSpPr>
          <p:cNvPr id="16" name="TextBox 15"/>
          <p:cNvSpPr txBox="1"/>
          <p:nvPr/>
        </p:nvSpPr>
        <p:spPr>
          <a:xfrm>
            <a:off x="8330207" y="3398341"/>
            <a:ext cx="1113085" cy="2286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0000"/>
              </a:lnSpc>
              <a:defRPr i="0" sz="1200" b="0">
                <a:solidFill>
                  <a:srgbClr val="111827"/>
                </a:solidFill>
                <a:latin typeface="Albert Sans"/>
              </a:defRPr>
            </a:pPr>
            <a:r>
              <a:rPr i="0" sz="1200" b="0">
                <a:solidFill>
                  <a:srgbClr val="111827"/>
                </a:solidFill>
                <a:latin typeface="Albert Sans"/>
              </a:rPr>
              <a:t>Ready for Scale</a:t>
            </a:r>
          </a:p>
        </p:txBody>
      </p:sp>
      <p:sp>
        <p:nvSpPr>
          <p:cNvPr id="17" name="TextBox 16"/>
          <p:cNvSpPr txBox="1"/>
          <p:nvPr/>
        </p:nvSpPr>
        <p:spPr>
          <a:xfrm>
            <a:off x="7639050" y="3703141"/>
            <a:ext cx="2495550" cy="59427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28000"/>
              </a:lnSpc>
              <a:defRPr i="0" sz="975" b="0">
                <a:solidFill>
                  <a:srgbClr val="6B7280"/>
                </a:solidFill>
                <a:latin typeface="Albert Sans"/>
              </a:defRPr>
            </a:pPr>
            <a:r>
              <a:rPr i="0" sz="975" b="0">
                <a:solidFill>
                  <a:srgbClr val="6B7280"/>
                </a:solidFill>
                <a:latin typeface="Albert Sans"/>
              </a:rPr>
              <a:t>Codebase is ready for </a:t>
            </a:r>
            <a:r>
              <a:rPr i="0" sz="975" b="1">
                <a:solidFill>
                  <a:srgbClr val="6B7280"/>
                </a:solidFill>
                <a:latin typeface="Albert Sans"/>
              </a:rPr>
              <a:t>immediate deployment</a:t>
            </a:r>
            <a:r>
              <a:rPr i="0" sz="975" b="0">
                <a:solidFill>
                  <a:srgbClr val="6B7280"/>
                </a:solidFill>
                <a:latin typeface="Albert Sans"/>
              </a:rPr>
              <a:t> across Africa, Middle East, and LATAM.</a:t>
            </a:r>
          </a:p>
        </p:txBody>
      </p:sp>
      <p:sp>
        <p:nvSpPr>
          <p:cNvPr id="18" name="TextBox 17"/>
          <p:cNvSpPr txBox="1"/>
          <p:nvPr/>
        </p:nvSpPr>
        <p:spPr>
          <a:xfrm>
            <a:off x="457200" y="6353175"/>
            <a:ext cx="1524297"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www.globalexample.com</a:t>
            </a:r>
          </a:p>
        </p:txBody>
      </p:sp>
      <p:sp>
        <p:nvSpPr>
          <p:cNvPr id="19" name="Rectangle 18"/>
          <p:cNvSpPr/>
          <p:nvPr/>
        </p:nvSpPr>
        <p:spPr>
          <a:xfrm>
            <a:off x="2191047" y="6443662"/>
            <a:ext cx="9543752"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ectangle 19"/>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